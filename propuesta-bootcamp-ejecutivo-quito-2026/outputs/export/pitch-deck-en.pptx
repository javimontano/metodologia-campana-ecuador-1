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 — contacto@metodologia.info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914400" y="2377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CAO Bootcamp — Chief Agentic Officer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3108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Quito, Ecuador 2026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029200" y="3840480"/>
            <a:ext cx="1828800" cy="36576"/>
          </a:xfrm>
          <a:prstGeom prst="rect">
            <a:avLst/>
          </a:prstGeom>
          <a:solidFill>
            <a:srgbClr val="FFD70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0" y="1828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 — contacto@metodologia.info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731520" y="1645920"/>
            <a:ext cx="10515600" cy="1097280"/>
          </a:xfrm>
          <a:prstGeom prst="roundRect">
            <a:avLst>
              <a:gd name="adj" fmla="val 8333"/>
            </a:avLst>
          </a:prstGeom>
          <a:solidFill>
            <a:srgbClr val="071A33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182880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 of your week is operational: emails, reports, follow-ups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3108960"/>
            <a:ext cx="10515600" cy="1097280"/>
          </a:xfrm>
          <a:prstGeom prst="roundRect">
            <a:avLst>
              <a:gd name="adj" fmla="val 8333"/>
            </a:avLst>
          </a:prstGeom>
          <a:solidFill>
            <a:srgbClr val="071A33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329184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AI tools: 73% abandon them in 2-4 weeks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31520" y="4572000"/>
            <a:ext cx="10515600" cy="1097280"/>
          </a:xfrm>
          <a:prstGeom prst="roundRect">
            <a:avLst>
              <a:gd name="adj" fmla="val 8333"/>
            </a:avLst>
          </a:prstGeom>
          <a:solidFill>
            <a:srgbClr val="071A33"/>
          </a:solidFill>
          <a:ln/>
        </p:spPr>
      </p:sp>
      <p:sp>
        <p:nvSpPr>
          <p:cNvPr id="11" name="Text 9"/>
          <p:cNvSpPr/>
          <p:nvPr/>
        </p:nvSpPr>
        <p:spPr>
          <a:xfrm>
            <a:off x="1097280" y="475488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 with AI-equipped executives doubles every quarter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0" y="1828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 — contacto@metodologia.info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course. An installation.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31520" y="2011680"/>
            <a:ext cx="3200400" cy="3200400"/>
          </a:xfrm>
          <a:prstGeom prst="roundRect">
            <a:avLst>
              <a:gd name="adj" fmla="val 2857"/>
            </a:avLst>
          </a:prstGeom>
          <a:solidFill>
            <a:srgbClr val="071A33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2860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Pristino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005840" y="3017520"/>
            <a:ext cx="26517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AI agent, Open Source, yours forever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89120" y="2011680"/>
            <a:ext cx="3200400" cy="3200400"/>
          </a:xfrm>
          <a:prstGeom prst="roundRect">
            <a:avLst>
              <a:gd name="adj" fmla="val 2857"/>
            </a:avLst>
          </a:prstGeom>
          <a:solidFill>
            <a:srgbClr val="071A33"/>
          </a:solidFill>
          <a:ln/>
        </p:spPr>
      </p:sp>
      <p:sp>
        <p:nvSpPr>
          <p:cNvPr id="11" name="Text 9"/>
          <p:cNvSpPr/>
          <p:nvPr/>
        </p:nvSpPr>
        <p:spPr>
          <a:xfrm>
            <a:off x="4389120" y="22860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Assistants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63440" y="3017520"/>
            <a:ext cx="26517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specialized by executive function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2011680"/>
            <a:ext cx="3200400" cy="3200400"/>
          </a:xfrm>
          <a:prstGeom prst="roundRect">
            <a:avLst>
              <a:gd name="adj" fmla="val 2857"/>
            </a:avLst>
          </a:prstGeom>
          <a:solidFill>
            <a:srgbClr val="071A33"/>
          </a:solidFill>
          <a:ln/>
        </p:spPr>
      </p:sp>
      <p:sp>
        <p:nvSpPr>
          <p:cNvPr id="14" name="Text 12"/>
          <p:cNvSpPr/>
          <p:nvPr/>
        </p:nvSpPr>
        <p:spPr>
          <a:xfrm>
            <a:off x="8046720" y="22860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2nd Brain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321040" y="3017520"/>
            <a:ext cx="26517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NotebookLM: organizes and connects your knowledge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0" y="1828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 — contacto@metodologia.info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731520" y="1463040"/>
            <a:ext cx="3200400" cy="3657600"/>
          </a:xfrm>
          <a:prstGeom prst="roundRect">
            <a:avLst>
              <a:gd name="adj" fmla="val 2857"/>
            </a:avLst>
          </a:prstGeom>
          <a:solidFill>
            <a:srgbClr val="071A33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7373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3774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31520" y="30175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3h, 13 spots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35661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Entry funnel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389120" y="1463040"/>
            <a:ext cx="3200400" cy="3657600"/>
          </a:xfrm>
          <a:prstGeom prst="roundRect">
            <a:avLst>
              <a:gd name="adj" fmla="val 2857"/>
            </a:avLst>
          </a:prstGeom>
          <a:solidFill>
            <a:srgbClr val="071A33"/>
          </a:solidFill>
          <a:ln/>
        </p:spPr>
      </p:sp>
      <p:sp>
        <p:nvSpPr>
          <p:cNvPr id="12" name="Text 10"/>
          <p:cNvSpPr/>
          <p:nvPr/>
        </p:nvSpPr>
        <p:spPr>
          <a:xfrm>
            <a:off x="4389120" y="17373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CAO Bootcamp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389120" y="23774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$1,490-$1,990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389120" y="30175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20h, 4-10 wks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389120" y="35661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Solo/Duo/Trio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046720" y="1463040"/>
            <a:ext cx="3200400" cy="3657600"/>
          </a:xfrm>
          <a:prstGeom prst="roundRect">
            <a:avLst>
              <a:gd name="adj" fmla="val 2857"/>
            </a:avLst>
          </a:prstGeom>
          <a:solidFill>
            <a:srgbClr val="071A33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0" y="17373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Empowerment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046720" y="23774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$1,490/person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046720" y="30175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weeks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046720" y="35661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Managers 7+ yrs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0" y="1828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 — contacto@metodologia.info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731520" y="1645920"/>
            <a:ext cx="2286000" cy="1828800"/>
          </a:xfrm>
          <a:prstGeom prst="roundRect">
            <a:avLst>
              <a:gd name="adj" fmla="val 5000"/>
            </a:avLst>
          </a:prstGeom>
          <a:solidFill>
            <a:srgbClr val="071A33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82880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$89,000,000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" y="26517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74720" y="1645920"/>
            <a:ext cx="2286000" cy="1828800"/>
          </a:xfrm>
          <a:prstGeom prst="roundRect">
            <a:avLst>
              <a:gd name="adj" fmla="val 5000"/>
            </a:avLst>
          </a:prstGeom>
          <a:solidFill>
            <a:srgbClr val="071A33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182880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$14,900,000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474720" y="26517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17920" y="1645920"/>
            <a:ext cx="2286000" cy="1828800"/>
          </a:xfrm>
          <a:prstGeom prst="roundRect">
            <a:avLst>
              <a:gd name="adj" fmla="val 5000"/>
            </a:avLst>
          </a:prstGeom>
          <a:solidFill>
            <a:srgbClr val="071A33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182880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$136,049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217920" y="26517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 Y1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961120" y="1645920"/>
            <a:ext cx="2286000" cy="1828800"/>
          </a:xfrm>
          <a:prstGeom prst="roundRect">
            <a:avLst>
              <a:gd name="adj" fmla="val 5000"/>
            </a:avLst>
          </a:prstGeom>
          <a:solidFill>
            <a:srgbClr val="071A33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182880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27-40x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961120" y="26517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LTV/CAC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31520" y="41148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Corp Training: $1.5B → $10.4B (2033). LatAm: 7.7% ($280M)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0" y="1828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 — contacto@metodologia.info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731520" y="1828800"/>
            <a:ext cx="5257800" cy="548640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828800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Coach 50%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89320" y="1828800"/>
            <a:ext cx="2103120" cy="548640"/>
          </a:xfrm>
          <a:prstGeom prst="rect">
            <a:avLst/>
          </a:prstGeom>
          <a:solidFill>
            <a:srgbClr val="FFA000"/>
          </a:solidFill>
          <a:ln/>
        </p:spPr>
      </p:sp>
      <p:sp>
        <p:nvSpPr>
          <p:cNvPr id="9" name="Text 7"/>
          <p:cNvSpPr/>
          <p:nvPr/>
        </p:nvSpPr>
        <p:spPr>
          <a:xfrm>
            <a:off x="5989320" y="182880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Franquicia 20%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092440" y="1828800"/>
            <a:ext cx="1051560" cy="548640"/>
          </a:xfrm>
          <a:prstGeom prst="rect">
            <a:avLst/>
          </a:prstGeom>
          <a:solidFill>
            <a:srgbClr val="137DC5"/>
          </a:solidFill>
          <a:ln/>
        </p:spPr>
      </p:sp>
      <p:sp>
        <p:nvSpPr>
          <p:cNvPr id="11" name="Text 9"/>
          <p:cNvSpPr/>
          <p:nvPr/>
        </p:nvSpPr>
        <p:spPr>
          <a:xfrm>
            <a:off x="8092440" y="1828800"/>
            <a:ext cx="1051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 10%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00" y="1828800"/>
            <a:ext cx="2103120" cy="54864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0" y="182880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Comercial 20%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926080"/>
          <a:ext cx="1051560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B2C (CAO + Empoderamiento + 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$86,849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$150,000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B2B (Grupos corporativos)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$13,200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$98,400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B2B2B Cobrand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$36,000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$96,000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White Label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$90,500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0" y="1828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 — contacto@metodologia.info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Landscape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10515600" cy="914400"/>
        </p:xfrm>
        <a:graphic>
          <a:graphicData uri="http://schemas.openxmlformats.org/drawingml/2006/table">
            <a:tbl>
              <a:tblPr/>
              <a:tblGrid>
                <a:gridCol w="3505200"/>
                <a:gridCol w="3505200"/>
                <a:gridCol w="3505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Provider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Delivery at close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IDE Business School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$5,000-$15,000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Theoretical, no functional agent at close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USFQ Executive Education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$3,000-$8,000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Academic, no practical implementation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 4 (PwC, Deloitte, EY, KPMG)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Expensive, generic, no personalization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MetodologIA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$1,490-$1,990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Only program delivering functional agent + 13 assi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0" y="1828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 — contacto@metodologia.info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731520" y="1463040"/>
            <a:ext cx="2286000" cy="1371600"/>
          </a:xfrm>
          <a:prstGeom prst="roundRect">
            <a:avLst>
              <a:gd name="adj" fmla="val 6667"/>
            </a:avLst>
          </a:prstGeom>
          <a:solidFill>
            <a:srgbClr val="071A33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5544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$136,049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31520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Y1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74720" y="1463040"/>
            <a:ext cx="2286000" cy="1371600"/>
          </a:xfrm>
          <a:prstGeom prst="roundRect">
            <a:avLst>
              <a:gd name="adj" fmla="val 6667"/>
            </a:avLst>
          </a:prstGeom>
          <a:solidFill>
            <a:srgbClr val="071A33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15544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$434,900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474720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Y2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1463040"/>
            <a:ext cx="2286000" cy="1371600"/>
          </a:xfrm>
          <a:prstGeom prst="roundRect">
            <a:avLst>
              <a:gd name="adj" fmla="val 6667"/>
            </a:avLst>
          </a:prstGeom>
          <a:solidFill>
            <a:srgbClr val="071A33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15544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$570,949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217920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24mo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61120" y="1463040"/>
            <a:ext cx="2286000" cy="1371600"/>
          </a:xfrm>
          <a:prstGeom prst="roundRect">
            <a:avLst>
              <a:gd name="adj" fmla="val 6667"/>
            </a:avLst>
          </a:prstGeom>
          <a:solidFill>
            <a:srgbClr val="071A33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15544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27-40x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961120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LTV/CAC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152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Burn: $813/mo | Break-even: Month 1 (1 CAO close)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0" y="1828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 — contacto@metodologia.info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Traction &amp; Funnel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522476" y="1645920"/>
            <a:ext cx="9144000" cy="914400"/>
          </a:xfrm>
          <a:prstGeom prst="roundRect">
            <a:avLst>
              <a:gd name="adj" fmla="val 10000"/>
            </a:avLst>
          </a:prstGeom>
          <a:solidFill>
            <a:srgbClr val="FFD700"/>
          </a:solidFill>
          <a:ln/>
        </p:spPr>
      </p:sp>
      <p:sp>
        <p:nvSpPr>
          <p:cNvPr id="7" name="Text 5"/>
          <p:cNvSpPr/>
          <p:nvPr/>
        </p:nvSpPr>
        <p:spPr>
          <a:xfrm>
            <a:off x="1522476" y="164592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 Executives invited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208276" y="2834640"/>
            <a:ext cx="7772400" cy="914400"/>
          </a:xfrm>
          <a:prstGeom prst="roundRect">
            <a:avLst>
              <a:gd name="adj" fmla="val 10000"/>
            </a:avLst>
          </a:prstGeom>
          <a:solidFill>
            <a:srgbClr val="071A33"/>
          </a:solidFill>
          <a:ln/>
        </p:spPr>
      </p:sp>
      <p:sp>
        <p:nvSpPr>
          <p:cNvPr id="9" name="Text 7"/>
          <p:cNvSpPr/>
          <p:nvPr/>
        </p:nvSpPr>
        <p:spPr>
          <a:xfrm>
            <a:off x="2208276" y="283464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Believers Edition (early access)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894076" y="4023360"/>
            <a:ext cx="6400800" cy="914400"/>
          </a:xfrm>
          <a:prstGeom prst="roundRect">
            <a:avLst>
              <a:gd name="adj" fmla="val 10000"/>
            </a:avLst>
          </a:prstGeom>
          <a:solidFill>
            <a:srgbClr val="071A33"/>
          </a:solidFill>
          <a:ln/>
        </p:spPr>
      </p:sp>
      <p:sp>
        <p:nvSpPr>
          <p:cNvPr id="11" name="Text 9"/>
          <p:cNvSpPr/>
          <p:nvPr/>
        </p:nvSpPr>
        <p:spPr>
          <a:xfrm>
            <a:off x="2894076" y="402336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 CAO Graduates Year 1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579876" y="5212080"/>
            <a:ext cx="5029200" cy="914400"/>
          </a:xfrm>
          <a:prstGeom prst="roundRect">
            <a:avLst>
              <a:gd name="adj" fmla="val 10000"/>
            </a:avLst>
          </a:prstGeom>
          <a:solidFill>
            <a:srgbClr val="071A33"/>
          </a:solidFill>
          <a:ln/>
        </p:spPr>
      </p:sp>
      <p:sp>
        <p:nvSpPr>
          <p:cNvPr id="13" name="Text 11"/>
          <p:cNvSpPr/>
          <p:nvPr/>
        </p:nvSpPr>
        <p:spPr>
          <a:xfrm>
            <a:off x="3579876" y="521208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15-20  Active Ambassadors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0" y="1828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AMBASSADORS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 — contacto@metodologia.info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Ambassador Flywheel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914400" y="2286000"/>
            <a:ext cx="1828800" cy="1828800"/>
          </a:xfrm>
          <a:prstGeom prst="roundRect">
            <a:avLst>
              <a:gd name="adj" fmla="val 5000"/>
            </a:avLst>
          </a:prstGeom>
          <a:solidFill>
            <a:srgbClr val="FFD70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468880"/>
            <a:ext cx="1828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CAO Graduates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560320" y="2926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017520" y="2286000"/>
            <a:ext cx="1828800" cy="1828800"/>
          </a:xfrm>
          <a:prstGeom prst="roundRect">
            <a:avLst>
              <a:gd name="adj" fmla="val 5000"/>
            </a:avLst>
          </a:prstGeom>
          <a:solidFill>
            <a:srgbClr val="071A33"/>
          </a:solidFill>
          <a:ln/>
        </p:spPr>
      </p:sp>
      <p:sp>
        <p:nvSpPr>
          <p:cNvPr id="10" name="Text 8"/>
          <p:cNvSpPr/>
          <p:nvPr/>
        </p:nvSpPr>
        <p:spPr>
          <a:xfrm>
            <a:off x="3017520" y="2468880"/>
            <a:ext cx="1828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Certify as Ambassadors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63440" y="2926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120640" y="2286000"/>
            <a:ext cx="1828800" cy="1828800"/>
          </a:xfrm>
          <a:prstGeom prst="roundRect">
            <a:avLst>
              <a:gd name="adj" fmla="val 5000"/>
            </a:avLst>
          </a:prstGeom>
          <a:solidFill>
            <a:srgbClr val="FFD700"/>
          </a:solidFill>
          <a:ln/>
        </p:spPr>
      </p:sp>
      <p:sp>
        <p:nvSpPr>
          <p:cNvPr id="13" name="Text 11"/>
          <p:cNvSpPr/>
          <p:nvPr/>
        </p:nvSpPr>
        <p:spPr>
          <a:xfrm>
            <a:off x="5120640" y="2468880"/>
            <a:ext cx="1828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 2-3 leads each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66560" y="2926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7223760" y="2286000"/>
            <a:ext cx="1828800" cy="1828800"/>
          </a:xfrm>
          <a:prstGeom prst="roundRect">
            <a:avLst>
              <a:gd name="adj" fmla="val 5000"/>
            </a:avLst>
          </a:prstGeom>
          <a:solidFill>
            <a:srgbClr val="071A33"/>
          </a:solidFill>
          <a:ln/>
        </p:spPr>
      </p:sp>
      <p:sp>
        <p:nvSpPr>
          <p:cNvPr id="16" name="Text 14"/>
          <p:cNvSpPr/>
          <p:nvPr/>
        </p:nvSpPr>
        <p:spPr>
          <a:xfrm>
            <a:off x="7223760" y="2468880"/>
            <a:ext cx="1828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clients (40% conversion)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69680" y="2926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326880" y="2286000"/>
            <a:ext cx="1828800" cy="1828800"/>
          </a:xfrm>
          <a:prstGeom prst="roundRect">
            <a:avLst>
              <a:gd name="adj" fmla="val 5000"/>
            </a:avLst>
          </a:prstGeom>
          <a:solidFill>
            <a:srgbClr val="FFD700"/>
          </a:solidFill>
          <a:ln/>
        </p:spPr>
      </p:sp>
      <p:sp>
        <p:nvSpPr>
          <p:cNvPr id="19" name="Text 17"/>
          <p:cNvSpPr/>
          <p:nvPr/>
        </p:nvSpPr>
        <p:spPr>
          <a:xfrm>
            <a:off x="9326880" y="2468880"/>
            <a:ext cx="1828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2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graduates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0" y="1828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 — contacto@metodologia.info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457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731520" y="1463040"/>
            <a:ext cx="3200400" cy="3657600"/>
          </a:xfrm>
          <a:prstGeom prst="roundRect">
            <a:avLst>
              <a:gd name="adj" fmla="val 2857"/>
            </a:avLst>
          </a:prstGeom>
          <a:solidFill>
            <a:srgbClr val="071A33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8288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Javier Montano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3774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 Co-Founder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29260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19%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914400" y="36576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 creator. 27 GPT assistants, 7 Gemini Gems, Pristino agent, 180+ systemati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89120" y="1463040"/>
            <a:ext cx="3200400" cy="3657600"/>
          </a:xfrm>
          <a:prstGeom prst="roundRect">
            <a:avLst>
              <a:gd name="adj" fmla="val 2857"/>
            </a:avLst>
          </a:prstGeom>
          <a:solidFill>
            <a:srgbClr val="071A33"/>
          </a:solidFill>
          <a:ln/>
        </p:spPr>
      </p:sp>
      <p:sp>
        <p:nvSpPr>
          <p:cNvPr id="12" name="Text 10"/>
          <p:cNvSpPr/>
          <p:nvPr/>
        </p:nvSpPr>
        <p:spPr>
          <a:xfrm>
            <a:off x="4389120" y="18288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Cristian Jarrin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389120" y="23774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 Ecuador Co-Founder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389120" y="29260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51%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572000" y="36576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Territorial operator. Business relationships in Quito, logistics, outreach.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46720" y="1463040"/>
            <a:ext cx="3200400" cy="3657600"/>
          </a:xfrm>
          <a:prstGeom prst="roundRect">
            <a:avLst>
              <a:gd name="adj" fmla="val 2857"/>
            </a:avLst>
          </a:prstGeom>
          <a:solidFill>
            <a:srgbClr val="071A33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0" y="18288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 Holding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046720" y="23774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Corporate entity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046720" y="29260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8229600" y="36576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IP, brand, tech ecosystem, ambassador network.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36576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 — contacto@metodologia.info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executives. 1 (R)Evolution.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Quito 2026.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029200" y="3474720"/>
            <a:ext cx="1828800" cy="36576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contacto@metodologia.info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50292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a customized service design proposal. The indicated prices are indicative and are confirmed before signing the service agreement. This document does not constitute a delivery commitment or a contract.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CAO Bootcamp - Quito 2026</dc:title>
  <dc:subject>PptxGenJS Presentation</dc:subject>
  <dc:creator>MetodologIA</dc:creator>
  <cp:lastModifiedBy>MetodologIA</cp:lastModifiedBy>
  <cp:revision>1</cp:revision>
  <dcterms:created xsi:type="dcterms:W3CDTF">2026-04-02T12:02:26Z</dcterms:created>
  <dcterms:modified xsi:type="dcterms:W3CDTF">2026-04-02T12:02:26Z</dcterms:modified>
</cp:coreProperties>
</file>