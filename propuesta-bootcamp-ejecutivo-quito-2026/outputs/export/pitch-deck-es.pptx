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Bootcamp — Chief Agentic Officer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3108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Quito, Ecuador 2026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0" y="3840480"/>
            <a:ext cx="1828800" cy="36576"/>
          </a:xfrm>
          <a:prstGeom prst="rect">
            <a:avLst/>
          </a:prstGeom>
          <a:solidFill>
            <a:srgbClr val="FFD7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0" y="182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10515600" cy="1097280"/>
          </a:xfrm>
          <a:prstGeom prst="roundRect">
            <a:avLst>
              <a:gd name="adj" fmla="val 8333"/>
            </a:avLst>
          </a:prstGeom>
          <a:solidFill>
            <a:srgbClr val="071A33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82880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de su semana es operativo: correos, reportes, seguimiento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3108960"/>
            <a:ext cx="10515600" cy="1097280"/>
          </a:xfrm>
          <a:prstGeom prst="roundRect">
            <a:avLst>
              <a:gd name="adj" fmla="val 8333"/>
            </a:avLst>
          </a:prstGeom>
          <a:solidFill>
            <a:srgbClr val="071A33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2918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Herramientas de IA aisladas: 73% las abandonan en 2-4 semanas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4572000"/>
            <a:ext cx="10515600" cy="1097280"/>
          </a:xfrm>
          <a:prstGeom prst="roundRect">
            <a:avLst>
              <a:gd name="adj" fmla="val 8333"/>
            </a:avLst>
          </a:prstGeom>
          <a:solidFill>
            <a:srgbClr val="071A33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47548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brecha con directivos que usan IA se duplica cada trimestre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0" y="182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Solucion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un curso. Es una instalacion.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2011680"/>
            <a:ext cx="3200400" cy="3200400"/>
          </a:xfrm>
          <a:prstGeom prst="roundRect">
            <a:avLst>
              <a:gd name="adj" fmla="val 2857"/>
            </a:avLst>
          </a:prstGeom>
          <a:solidFill>
            <a:srgbClr val="071A33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2860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Pristino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05840" y="3017520"/>
            <a:ext cx="2651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IA personal, Open Source, suyo para siempre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0" y="2011680"/>
            <a:ext cx="3200400" cy="3200400"/>
          </a:xfrm>
          <a:prstGeom prst="roundRect">
            <a:avLst>
              <a:gd name="adj" fmla="val 2857"/>
            </a:avLst>
          </a:prstGeom>
          <a:solidFill>
            <a:srgbClr val="071A33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22860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Asistentes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63440" y="3017520"/>
            <a:ext cx="2651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especializados por funcion ejecutiva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011680"/>
            <a:ext cx="3200400" cy="3200400"/>
          </a:xfrm>
          <a:prstGeom prst="roundRect">
            <a:avLst>
              <a:gd name="adj" fmla="val 2857"/>
            </a:avLst>
          </a:prstGeom>
          <a:solidFill>
            <a:srgbClr val="071A33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0" y="22860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2do Cerebro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321040" y="3017520"/>
            <a:ext cx="2651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NotebookLM: organiza y conecta su conocimiento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0" y="182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3200400" cy="3657600"/>
          </a:xfrm>
          <a:prstGeom prst="roundRect">
            <a:avLst>
              <a:gd name="adj" fmla="val 2857"/>
            </a:avLst>
          </a:prstGeom>
          <a:solidFill>
            <a:srgbClr val="071A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Gratis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017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3h, 13 plazas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566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Funnel de entrada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89120" y="1463040"/>
            <a:ext cx="3200400" cy="3657600"/>
          </a:xfrm>
          <a:prstGeom prst="roundRect">
            <a:avLst>
              <a:gd name="adj" fmla="val 2857"/>
            </a:avLst>
          </a:prstGeom>
          <a:solidFill>
            <a:srgbClr val="071A33"/>
          </a:solidFill>
          <a:ln/>
        </p:spPr>
      </p:sp>
      <p:sp>
        <p:nvSpPr>
          <p:cNvPr id="12" name="Text 10"/>
          <p:cNvSpPr/>
          <p:nvPr/>
        </p:nvSpPr>
        <p:spPr>
          <a:xfrm>
            <a:off x="4389120" y="17373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Bootcamp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389120" y="23774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$1,490-$1,990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389120" y="3017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20h, 4-10 sem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389120" y="3566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Solo/Dupla/Terna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46720" y="1463040"/>
            <a:ext cx="3200400" cy="3657600"/>
          </a:xfrm>
          <a:prstGeom prst="roundRect">
            <a:avLst>
              <a:gd name="adj" fmla="val 2857"/>
            </a:avLst>
          </a:prstGeom>
          <a:solidFill>
            <a:srgbClr val="071A33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0" y="17373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Empoderamiento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046720" y="23774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$1,490/persona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046720" y="3017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semanas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046720" y="3566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Managers 7+ anios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0" y="182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2286000" cy="1828800"/>
          </a:xfrm>
          <a:prstGeom prst="roundRect">
            <a:avLst>
              <a:gd name="adj" fmla="val 5000"/>
            </a:avLst>
          </a:prstGeom>
          <a:solidFill>
            <a:srgbClr val="071A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288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$89,000,000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74720" y="1645920"/>
            <a:ext cx="2286000" cy="1828800"/>
          </a:xfrm>
          <a:prstGeom prst="roundRect">
            <a:avLst>
              <a:gd name="adj" fmla="val 5000"/>
            </a:avLst>
          </a:prstGeom>
          <a:solidFill>
            <a:srgbClr val="071A33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18288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$14,900,000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474720" y="2651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1645920"/>
            <a:ext cx="2286000" cy="1828800"/>
          </a:xfrm>
          <a:prstGeom prst="roundRect">
            <a:avLst>
              <a:gd name="adj" fmla="val 5000"/>
            </a:avLst>
          </a:prstGeom>
          <a:solidFill>
            <a:srgbClr val="071A33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18288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$136,049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217920" y="2651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Y1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961120" y="1645920"/>
            <a:ext cx="2286000" cy="1828800"/>
          </a:xfrm>
          <a:prstGeom prst="roundRect">
            <a:avLst>
              <a:gd name="adj" fmla="val 5000"/>
            </a:avLst>
          </a:prstGeom>
          <a:solidFill>
            <a:srgbClr val="071A33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18288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27-40x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961120" y="2651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LTV/CAC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Corp Training: $1.5B → $10.4B (2033). LatAm: 7.7% ($280M)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0" y="182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Negocio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5257800" cy="548640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2880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50%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89320" y="1828800"/>
            <a:ext cx="2103120" cy="548640"/>
          </a:xfrm>
          <a:prstGeom prst="rect">
            <a:avLst/>
          </a:prstGeom>
          <a:solidFill>
            <a:srgbClr val="FFA000"/>
          </a:solidFill>
          <a:ln/>
        </p:spPr>
      </p:sp>
      <p:sp>
        <p:nvSpPr>
          <p:cNvPr id="9" name="Text 7"/>
          <p:cNvSpPr/>
          <p:nvPr/>
        </p:nvSpPr>
        <p:spPr>
          <a:xfrm>
            <a:off x="5989320" y="18288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Franquicia 20%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092440" y="1828800"/>
            <a:ext cx="1051560" cy="548640"/>
          </a:xfrm>
          <a:prstGeom prst="rect">
            <a:avLst/>
          </a:prstGeom>
          <a:solidFill>
            <a:srgbClr val="137DC5"/>
          </a:solidFill>
          <a:ln/>
        </p:spPr>
      </p:sp>
      <p:sp>
        <p:nvSpPr>
          <p:cNvPr id="11" name="Text 9"/>
          <p:cNvSpPr/>
          <p:nvPr/>
        </p:nvSpPr>
        <p:spPr>
          <a:xfrm>
            <a:off x="8092440" y="1828800"/>
            <a:ext cx="1051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10%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0" y="1828800"/>
            <a:ext cx="2103120" cy="54864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0" y="18288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 20%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26080"/>
          <a:ext cx="105156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B2C (CAO + Empoderamiento + 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$86,849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B2B (Grupos corporativos)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$98,400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B2B2B Cobrand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$96,000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White Label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$90,500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0" y="182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COMPETENCIA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Competitivo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515600" cy="91440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Proveedor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Entrega al cierre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 Business School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$5,000-$15,000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Teorico, sin agente funcional al cierre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USFQ Executive Education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$3,000-$8,000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Academico, sin implementacion practica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 4 (PwC, Deloitte, EY, KPMG)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Costoso, generico, sin personalizacion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MetodologIA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$1,490-$1,990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Unico programa que entrega agente funcional + 13 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0" y="182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FINANCIERO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Finanzas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071A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54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$136,049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Y1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071A33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1554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$434,900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7472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Y2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071A33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1554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$570,949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21792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24mo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61120" y="146304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071A33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1554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27-40x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96112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LTV/CAC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Burn: $813/mo | Break-even: Mes 1 (1 cierre CAO)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0" y="182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TRACCION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Traccion y Funnel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522476" y="1645920"/>
            <a:ext cx="9144000" cy="914400"/>
          </a:xfrm>
          <a:prstGeom prst="roundRect">
            <a:avLst>
              <a:gd name="adj" fmla="val 10000"/>
            </a:avLst>
          </a:prstGeom>
          <a:solidFill>
            <a:srgbClr val="FFD700"/>
          </a:solidFill>
          <a:ln/>
        </p:spPr>
      </p:sp>
      <p:sp>
        <p:nvSpPr>
          <p:cNvPr id="7" name="Text 5"/>
          <p:cNvSpPr/>
          <p:nvPr/>
        </p:nvSpPr>
        <p:spPr>
          <a:xfrm>
            <a:off x="1522476" y="164592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Directivos convocados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208276" y="2834640"/>
            <a:ext cx="7772400" cy="914400"/>
          </a:xfrm>
          <a:prstGeom prst="roundRect">
            <a:avLst>
              <a:gd name="adj" fmla="val 10000"/>
            </a:avLst>
          </a:prstGeom>
          <a:solidFill>
            <a:srgbClr val="071A33"/>
          </a:solidFill>
          <a:ln/>
        </p:spPr>
      </p:sp>
      <p:sp>
        <p:nvSpPr>
          <p:cNvPr id="9" name="Text 7"/>
          <p:cNvSpPr/>
          <p:nvPr/>
        </p:nvSpPr>
        <p:spPr>
          <a:xfrm>
            <a:off x="2208276" y="283464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Edicion Creyentes (early access)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894076" y="4023360"/>
            <a:ext cx="6400800" cy="914400"/>
          </a:xfrm>
          <a:prstGeom prst="roundRect">
            <a:avLst>
              <a:gd name="adj" fmla="val 10000"/>
            </a:avLst>
          </a:prstGeom>
          <a:solidFill>
            <a:srgbClr val="071A33"/>
          </a:solidFill>
          <a:ln/>
        </p:spPr>
      </p:sp>
      <p:sp>
        <p:nvSpPr>
          <p:cNvPr id="11" name="Text 9"/>
          <p:cNvSpPr/>
          <p:nvPr/>
        </p:nvSpPr>
        <p:spPr>
          <a:xfrm>
            <a:off x="2894076" y="40233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 Graduados CAO Anio 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579876" y="5212080"/>
            <a:ext cx="5029200" cy="914400"/>
          </a:xfrm>
          <a:prstGeom prst="roundRect">
            <a:avLst>
              <a:gd name="adj" fmla="val 10000"/>
            </a:avLst>
          </a:prstGeom>
          <a:solidFill>
            <a:srgbClr val="071A33"/>
          </a:solidFill>
          <a:ln/>
        </p:spPr>
      </p:sp>
      <p:sp>
        <p:nvSpPr>
          <p:cNvPr id="13" name="Text 11"/>
          <p:cNvSpPr/>
          <p:nvPr/>
        </p:nvSpPr>
        <p:spPr>
          <a:xfrm>
            <a:off x="3579876" y="521208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15-20  Embajadores activos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0" y="182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EMBAJADORES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Flywheel de Embajadores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914400" y="2286000"/>
            <a:ext cx="1828800" cy="1828800"/>
          </a:xfrm>
          <a:prstGeom prst="roundRect">
            <a:avLst>
              <a:gd name="adj" fmla="val 5000"/>
            </a:avLst>
          </a:prstGeom>
          <a:solidFill>
            <a:srgbClr val="FFD70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46888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Graduados CAO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560320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017520" y="2286000"/>
            <a:ext cx="1828800" cy="1828800"/>
          </a:xfrm>
          <a:prstGeom prst="roundRect">
            <a:avLst>
              <a:gd name="adj" fmla="val 5000"/>
            </a:avLst>
          </a:prstGeom>
          <a:solidFill>
            <a:srgbClr val="071A33"/>
          </a:solidFill>
          <a:ln/>
        </p:spPr>
      </p:sp>
      <p:sp>
        <p:nvSpPr>
          <p:cNvPr id="10" name="Text 8"/>
          <p:cNvSpPr/>
          <p:nvPr/>
        </p:nvSpPr>
        <p:spPr>
          <a:xfrm>
            <a:off x="3017520" y="246888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certifican como Embajadores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63440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120640" y="2286000"/>
            <a:ext cx="1828800" cy="1828800"/>
          </a:xfrm>
          <a:prstGeom prst="roundRect">
            <a:avLst>
              <a:gd name="adj" fmla="val 5000"/>
            </a:avLst>
          </a:prstGeom>
          <a:solidFill>
            <a:srgbClr val="FFD700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0" y="246888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Refieren 2-3 leads cada uno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66560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223760" y="2286000"/>
            <a:ext cx="1828800" cy="1828800"/>
          </a:xfrm>
          <a:prstGeom prst="roundRect">
            <a:avLst>
              <a:gd name="adj" fmla="val 5000"/>
            </a:avLst>
          </a:prstGeom>
          <a:solidFill>
            <a:srgbClr val="071A33"/>
          </a:solidFill>
          <a:ln/>
        </p:spPr>
      </p:sp>
      <p:sp>
        <p:nvSpPr>
          <p:cNvPr id="16" name="Text 14"/>
          <p:cNvSpPr/>
          <p:nvPr/>
        </p:nvSpPr>
        <p:spPr>
          <a:xfrm>
            <a:off x="7223760" y="246888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Nuevos clientes (40% conversion)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9680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326880" y="2286000"/>
            <a:ext cx="1828800" cy="1828800"/>
          </a:xfrm>
          <a:prstGeom prst="roundRect">
            <a:avLst>
              <a:gd name="adj" fmla="val 5000"/>
            </a:avLst>
          </a:prstGeom>
          <a:solidFill>
            <a:srgbClr val="FFD700"/>
          </a:solidFill>
          <a:ln/>
        </p:spPr>
      </p:sp>
      <p:sp>
        <p:nvSpPr>
          <p:cNvPr id="19" name="Text 17"/>
          <p:cNvSpPr/>
          <p:nvPr/>
        </p:nvSpPr>
        <p:spPr>
          <a:xfrm>
            <a:off x="9326880" y="246888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 graduados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0" y="182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3200400" cy="3657600"/>
          </a:xfrm>
          <a:prstGeom prst="roundRect">
            <a:avLst>
              <a:gd name="adj" fmla="val 2857"/>
            </a:avLst>
          </a:prstGeom>
          <a:solidFill>
            <a:srgbClr val="071A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288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Javier Montano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Cofundador MetodologIA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914400" y="36576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Creador del metodo. 27 asistentes GPT, 7 Gemini Gems, agente Pristino, 180+ prom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0" y="1463040"/>
            <a:ext cx="3200400" cy="3657600"/>
          </a:xfrm>
          <a:prstGeom prst="roundRect">
            <a:avLst>
              <a:gd name="adj" fmla="val 2857"/>
            </a:avLst>
          </a:prstGeom>
          <a:solidFill>
            <a:srgbClr val="071A33"/>
          </a:solidFill>
          <a:ln/>
        </p:spPr>
      </p:sp>
      <p:sp>
        <p:nvSpPr>
          <p:cNvPr id="12" name="Text 10"/>
          <p:cNvSpPr/>
          <p:nvPr/>
        </p:nvSpPr>
        <p:spPr>
          <a:xfrm>
            <a:off x="4389120" y="18288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Katherin Oquendo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389120" y="23774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Cofundadora MetodologIA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38912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0" y="36576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Cofundadora. Operaciones y estrategia.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0" y="1463040"/>
            <a:ext cx="3200400" cy="3657600"/>
          </a:xfrm>
          <a:prstGeom prst="roundRect">
            <a:avLst>
              <a:gd name="adj" fmla="val 2857"/>
            </a:avLst>
          </a:prstGeom>
          <a:solidFill>
            <a:srgbClr val="071A33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0" y="18288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Daniel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046720" y="23774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Cofundador MetodologIA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13%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8229600" y="36576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Cofundador. Aceleradores y red de fundadores.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1704320" y="1463040"/>
            <a:ext cx="3200400" cy="3657600"/>
          </a:xfrm>
          <a:prstGeom prst="roundRect">
            <a:avLst>
              <a:gd name="adj" fmla="val 2857"/>
            </a:avLst>
          </a:prstGeom>
          <a:solidFill>
            <a:srgbClr val="071A33"/>
          </a:solidFill>
          <a:ln/>
        </p:spPr>
      </p:sp>
      <p:sp>
        <p:nvSpPr>
          <p:cNvPr id="22" name="Text 20"/>
          <p:cNvSpPr/>
          <p:nvPr/>
        </p:nvSpPr>
        <p:spPr>
          <a:xfrm>
            <a:off x="11704320" y="18288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German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1704320" y="23774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Cofundador MetodologIA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70432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19%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11887200" y="36576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Cofundador. Aceleradores y soporte de fundadores.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5361920" y="1463040"/>
            <a:ext cx="3200400" cy="3657600"/>
          </a:xfrm>
          <a:prstGeom prst="roundRect">
            <a:avLst>
              <a:gd name="adj" fmla="val 2857"/>
            </a:avLst>
          </a:prstGeom>
          <a:solidFill>
            <a:srgbClr val="071A33"/>
          </a:solidFill>
          <a:ln/>
        </p:spPr>
      </p:sp>
      <p:sp>
        <p:nvSpPr>
          <p:cNvPr id="27" name="Text 25"/>
          <p:cNvSpPr/>
          <p:nvPr/>
        </p:nvSpPr>
        <p:spPr>
          <a:xfrm>
            <a:off x="15361920" y="18288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Cristian Jarrin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5361920" y="23774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Socio MetodologIA Ecuador (entra 1 ano despues)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536192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15544800" y="36576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Operador territorial. Relaciones empresariales en Quito, logistica, convocatoria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directivos. 1 (R)Evolucion.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Quito 2026.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029200" y="3474720"/>
            <a:ext cx="18288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contacto@metodologia.info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es una propuesta de diseno de servicio personalizado. Los precios indicados son indicativos y se confirman antes de la firma del acuerdo de servicios. Este documento no constituye un compromiso de entrega ni un contrato.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CAO Bootcamp - Quito 2026</dc:title>
  <dc:subject>PptxGenJS Presentation</dc:subject>
  <dc:creator>MetodologIA</dc:creator>
  <cp:lastModifiedBy>MetodologIA</cp:lastModifiedBy>
  <cp:revision>1</cp:revision>
  <dcterms:created xsi:type="dcterms:W3CDTF">2026-04-03T16:17:52Z</dcterms:created>
  <dcterms:modified xsi:type="dcterms:W3CDTF">2026-04-03T16:17:52Z</dcterms:modified>
</cp:coreProperties>
</file>